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9"/>
    <p:restoredTop sz="94658"/>
  </p:normalViewPr>
  <p:slideViewPr>
    <p:cSldViewPr snapToGrid="0">
      <p:cViewPr varScale="1">
        <p:scale>
          <a:sx n="116" d="100"/>
          <a:sy n="116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89D42-EF03-2349-56A8-A139412FE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3DB30E-49ED-CE72-3CC1-8A904516D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F86642-55B6-0EFA-427B-19B8C144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CA060-B120-572A-3C2C-FDF762F5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9B886D-0AD1-8231-FE9D-F9D99D68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611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3ED43-244C-511D-67C0-AC66FC15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2B9F94-F64A-EFCD-BA70-70C0BB769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5F5D52-CEDF-3744-6A05-D12AEE96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434A1C-A709-B008-B538-464363EB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6A8531-984E-09C8-14F6-D8A0671D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767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BB2CB-2554-D31B-215A-26C6C37E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5E5708-DEAB-F183-07D7-56781D206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0C8D9A-2DD2-804A-A553-C9520EF1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4D620F-2DB7-36FE-97E1-C0C9EC46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1BBCC5-1CE6-CA65-8E35-E5F2612A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91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F044E-8395-E6E9-B9A3-C95C8AFD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50671E-7937-D3F4-823E-B4112A73E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0C3B27-7376-6017-503F-E85993DFF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ECC8D3-FEF8-E861-7A84-F8E644EA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0D2365-D734-4C3E-A457-5FFC3DAF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F0E433-CE17-E07D-7075-6FBEE391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7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62F6E-1558-B959-8B59-C7AE6FA1F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A3199-7CF5-7F3A-A04F-346F96EB6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C775CB-3572-8A43-67EA-6C3C499EC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9D7E83-F706-10EE-45E1-1FA1805F6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9DDF29-0616-4895-90F2-E553E0C57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7017B94-97BE-6AE8-EA0B-45CD27E5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31941B-58BD-3071-8E77-4FF1BEF1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F7C622-8085-26DA-AAD2-88C69E1B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5265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232D7-C2F9-0A6E-BB73-1CCF6EDF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01420E-3360-F146-AC7D-FB55E5D15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F328F3-8822-FDD6-769D-935579A5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290500-4156-0652-1383-8E0DC15DA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660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B93EC2-5657-C059-C2DE-9B1C01DF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41D040-D33C-CFE6-9AE7-F50B7EFBA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4E381B-C6D1-F249-397D-CE6F391B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747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DE2B2-B044-3339-DC93-7E9D4A5E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95B5F3-A6EC-C05B-104F-DC01D837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FF3296-C1B9-A055-8CE9-5E81D7A94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E4370F-7CE7-F809-3D7A-01021C94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91E777-C27E-C987-EDAB-426DA776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FAE7CE-35FF-1A4F-4DA9-0A15215E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22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E3ABB-D0DF-1C21-44C4-86DF6F796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B698653-CE4C-B716-66D1-FBA8793550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17BD45-B58E-08DB-7371-0E4B1DEBA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4EA3C8-5698-5BC6-370F-EC4AFC65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2A2970-0A0E-86B9-D18E-B6B7A80F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B94B4B-7648-2828-F8DF-73354D37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119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DDC6A-5107-0A97-F920-B02D3A5E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DFBE5A-6B2D-4ABD-EB87-E2C32DE4E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08457-B515-B337-3AEA-DFCE054E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3CBDC9-EAFC-91C4-DBBC-C5C59418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7E0A48-6530-3DAB-3381-81791AF0F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363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61BA9A-C68A-4F99-2A6F-3453FBB66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6E618C-56A6-E6F7-14FD-C06652EAE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2A1F48-614F-45BB-49A5-76E20D76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C0ACD6-BCCC-A80C-7935-E83277E8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404C8-E05B-F177-C9DA-946DBC7B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88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1068EA-40E0-68DF-1E7C-AEC13121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8454B1-2258-1346-6DF2-27A63D895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74685A-09A9-C43C-592B-77AB1A03E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7469E-3A96-D346-A429-23B9F75807AC}" type="datetimeFigureOut">
              <a:rPr lang="es-ES" smtClean="0"/>
              <a:t>14/1/26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D2D280-C688-3BC9-078B-2B0268894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A2B475-5980-0C75-E11F-6EC827487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D19F8-FD04-F24D-AA95-287F4A7921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469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51776-1309-F3CB-1166-7E1CEE64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EC13A375-8C2B-724D-864E-82FDE8FA4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9" y="271749"/>
            <a:ext cx="11379570" cy="620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7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31D36978-C42F-A2B8-5A3E-88B0216726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92"/>
          <a:stretch>
            <a:fillRect/>
          </a:stretch>
        </p:blipFill>
        <p:spPr>
          <a:xfrm>
            <a:off x="303318" y="459036"/>
            <a:ext cx="11379570" cy="523668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2BC2511-20B2-3708-2777-C5E454F82A45}"/>
              </a:ext>
            </a:extLst>
          </p:cNvPr>
          <p:cNvSpPr/>
          <p:nvPr/>
        </p:nvSpPr>
        <p:spPr>
          <a:xfrm>
            <a:off x="2877515" y="1988472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Idea </a:t>
            </a:r>
            <a:r>
              <a:rPr lang="es-ES" dirty="0" err="1"/>
              <a:t>structuring</a:t>
            </a:r>
            <a:endParaRPr lang="es-ES" dirty="0"/>
          </a:p>
          <a:p>
            <a:pPr algn="ctr"/>
            <a:r>
              <a:rPr lang="es-ES" dirty="0"/>
              <a:t>SCQA, MECE, </a:t>
            </a:r>
            <a:r>
              <a:rPr lang="es-ES" dirty="0" err="1"/>
              <a:t>Pyramid</a:t>
            </a:r>
            <a:r>
              <a:rPr lang="es-ES" dirty="0"/>
              <a:t> </a:t>
            </a:r>
            <a:r>
              <a:rPr lang="es-ES" dirty="0" err="1"/>
              <a:t>principle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F1F1F9-3C3B-1A1E-C614-DD8355CD899E}"/>
              </a:ext>
            </a:extLst>
          </p:cNvPr>
          <p:cNvSpPr/>
          <p:nvPr/>
        </p:nvSpPr>
        <p:spPr>
          <a:xfrm>
            <a:off x="5773115" y="1988471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Audience</a:t>
            </a:r>
            <a:r>
              <a:rPr lang="es-ES" dirty="0"/>
              <a:t> </a:t>
            </a:r>
            <a:r>
              <a:rPr lang="es-ES" dirty="0" err="1"/>
              <a:t>Journey</a:t>
            </a:r>
            <a:endParaRPr lang="es-ES" dirty="0"/>
          </a:p>
          <a:p>
            <a:pPr algn="ctr"/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big</a:t>
            </a:r>
            <a:r>
              <a:rPr lang="es-ES" dirty="0"/>
              <a:t> idea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6C5C4F3-F70E-C25C-60B1-D83CFCCE3C12}"/>
              </a:ext>
            </a:extLst>
          </p:cNvPr>
          <p:cNvSpPr/>
          <p:nvPr/>
        </p:nvSpPr>
        <p:spPr>
          <a:xfrm>
            <a:off x="8668715" y="1988470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Evidence</a:t>
            </a:r>
            <a:r>
              <a:rPr lang="es-ES" dirty="0"/>
              <a:t> </a:t>
            </a:r>
            <a:r>
              <a:rPr lang="es-ES" dirty="0" err="1"/>
              <a:t>archetypes</a:t>
            </a:r>
            <a:endParaRPr lang="es-ES" dirty="0"/>
          </a:p>
          <a:p>
            <a:pPr algn="ctr"/>
            <a:r>
              <a:rPr lang="es-ES" dirty="0" err="1"/>
              <a:t>Plausibility</a:t>
            </a:r>
            <a:r>
              <a:rPr lang="es-ES" dirty="0"/>
              <a:t> </a:t>
            </a:r>
            <a:r>
              <a:rPr lang="es-ES" dirty="0" err="1"/>
              <a:t>loop</a:t>
            </a:r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5DCF675-F521-4888-9AEF-ABC4D87FB894}"/>
              </a:ext>
            </a:extLst>
          </p:cNvPr>
          <p:cNvSpPr/>
          <p:nvPr/>
        </p:nvSpPr>
        <p:spPr>
          <a:xfrm>
            <a:off x="2877515" y="3297563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Logical</a:t>
            </a:r>
            <a:r>
              <a:rPr lang="es-ES" dirty="0"/>
              <a:t> </a:t>
            </a:r>
            <a:r>
              <a:rPr lang="es-ES" dirty="0" err="1"/>
              <a:t>thinking</a:t>
            </a:r>
            <a:endParaRPr lang="es-ES" dirty="0"/>
          </a:p>
          <a:p>
            <a:pPr algn="ctr"/>
            <a:r>
              <a:rPr lang="es-ES" dirty="0"/>
              <a:t>Deductive, Inductive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289C7E5-3BE5-2409-8F04-0EFEAB473C80}"/>
              </a:ext>
            </a:extLst>
          </p:cNvPr>
          <p:cNvSpPr/>
          <p:nvPr/>
        </p:nvSpPr>
        <p:spPr>
          <a:xfrm>
            <a:off x="5773115" y="3297562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sparkline</a:t>
            </a:r>
            <a:endParaRPr lang="es-ES" dirty="0"/>
          </a:p>
          <a:p>
            <a:pPr algn="ctr"/>
            <a:r>
              <a:rPr lang="es-ES" dirty="0" err="1"/>
              <a:t>Emotional</a:t>
            </a:r>
            <a:r>
              <a:rPr lang="es-ES" dirty="0"/>
              <a:t> </a:t>
            </a:r>
            <a:r>
              <a:rPr lang="es-ES" dirty="0" err="1"/>
              <a:t>contrast</a:t>
            </a:r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02BEC27-4326-B99B-8963-18EFDE0242F3}"/>
              </a:ext>
            </a:extLst>
          </p:cNvPr>
          <p:cNvSpPr/>
          <p:nvPr/>
        </p:nvSpPr>
        <p:spPr>
          <a:xfrm>
            <a:off x="8668715" y="3297561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Data </a:t>
            </a:r>
            <a:r>
              <a:rPr lang="es-ES" dirty="0" err="1"/>
              <a:t>Story</a:t>
            </a:r>
            <a:r>
              <a:rPr lang="es-ES" dirty="0"/>
              <a:t> </a:t>
            </a:r>
            <a:r>
              <a:rPr lang="es-ES" dirty="0" err="1"/>
              <a:t>Arcs</a:t>
            </a:r>
            <a:endParaRPr lang="es-ES" dirty="0"/>
          </a:p>
          <a:p>
            <a:pPr algn="ctr"/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Reveal</a:t>
            </a:r>
            <a:r>
              <a:rPr lang="es-ES" dirty="0"/>
              <a:t> vs </a:t>
            </a:r>
            <a:r>
              <a:rPr lang="es-ES" dirty="0" err="1"/>
              <a:t>Headline</a:t>
            </a:r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863BB62-E3C0-EFBC-7A7B-D417678A03C5}"/>
              </a:ext>
            </a:extLst>
          </p:cNvPr>
          <p:cNvSpPr/>
          <p:nvPr/>
        </p:nvSpPr>
        <p:spPr>
          <a:xfrm>
            <a:off x="2877515" y="4518599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The</a:t>
            </a:r>
            <a:r>
              <a:rPr lang="es-ES" dirty="0"/>
              <a:t> “So </a:t>
            </a:r>
            <a:r>
              <a:rPr lang="es-ES" dirty="0" err="1"/>
              <a:t>What</a:t>
            </a:r>
            <a:r>
              <a:rPr lang="es-ES" dirty="0"/>
              <a:t>”?</a:t>
            </a:r>
          </a:p>
          <a:p>
            <a:pPr algn="ctr"/>
            <a:r>
              <a:rPr lang="es-ES" dirty="0" err="1"/>
              <a:t>Copywriting</a:t>
            </a:r>
            <a:r>
              <a:rPr lang="es-ES" dirty="0"/>
              <a:t>, </a:t>
            </a:r>
            <a:r>
              <a:rPr lang="es-ES" dirty="0" err="1"/>
              <a:t>Action</a:t>
            </a:r>
            <a:r>
              <a:rPr lang="es-ES" dirty="0"/>
              <a:t> </a:t>
            </a:r>
            <a:r>
              <a:rPr lang="es-ES" dirty="0" err="1"/>
              <a:t>Titles</a:t>
            </a:r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7605165-9C97-F694-B1A4-A243BB41C15E}"/>
              </a:ext>
            </a:extLst>
          </p:cNvPr>
          <p:cNvSpPr/>
          <p:nvPr/>
        </p:nvSpPr>
        <p:spPr>
          <a:xfrm>
            <a:off x="5773115" y="4518598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Visual </a:t>
            </a:r>
            <a:r>
              <a:rPr lang="es-ES" dirty="0" err="1"/>
              <a:t>metaphors</a:t>
            </a:r>
            <a:endParaRPr lang="es-ES" dirty="0"/>
          </a:p>
          <a:p>
            <a:pPr algn="ctr"/>
            <a:r>
              <a:rPr lang="es-ES" dirty="0" err="1"/>
              <a:t>Layouts</a:t>
            </a:r>
            <a:r>
              <a:rPr lang="es-ES" dirty="0"/>
              <a:t>, </a:t>
            </a:r>
            <a:r>
              <a:rPr lang="es-ES" dirty="0" err="1"/>
              <a:t>Diagrams</a:t>
            </a:r>
            <a:r>
              <a:rPr lang="es-ES" dirty="0"/>
              <a:t>, </a:t>
            </a:r>
            <a:r>
              <a:rPr lang="es-ES" dirty="0" err="1"/>
              <a:t>images</a:t>
            </a:r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6BFB848-6ABB-87EA-8DF0-4E6DBF7A9F92}"/>
              </a:ext>
            </a:extLst>
          </p:cNvPr>
          <p:cNvSpPr/>
          <p:nvPr/>
        </p:nvSpPr>
        <p:spPr>
          <a:xfrm>
            <a:off x="8668715" y="4518597"/>
            <a:ext cx="2805831" cy="1098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Chart </a:t>
            </a:r>
            <a:r>
              <a:rPr lang="es-ES" dirty="0" err="1"/>
              <a:t>design</a:t>
            </a:r>
            <a:r>
              <a:rPr lang="es-ES" dirty="0"/>
              <a:t> &amp; </a:t>
            </a:r>
            <a:r>
              <a:rPr lang="es-ES" dirty="0" err="1"/>
              <a:t>Layout</a:t>
            </a:r>
            <a:br>
              <a:rPr lang="es-ES" dirty="0"/>
            </a:br>
            <a:r>
              <a:rPr lang="es-ES" dirty="0"/>
              <a:t>Chart </a:t>
            </a:r>
            <a:r>
              <a:rPr lang="es-ES" dirty="0" err="1"/>
              <a:t>selection</a:t>
            </a:r>
            <a:r>
              <a:rPr lang="es-ES" dirty="0"/>
              <a:t> </a:t>
            </a:r>
            <a:r>
              <a:rPr lang="es-ES" dirty="0" err="1"/>
              <a:t>basics</a:t>
            </a:r>
            <a:r>
              <a:rPr lang="es-ES" dirty="0"/>
              <a:t>, Data-</a:t>
            </a:r>
            <a:r>
              <a:rPr lang="es-ES" dirty="0" err="1"/>
              <a:t>ink</a:t>
            </a:r>
            <a:r>
              <a:rPr lang="es-ES" dirty="0"/>
              <a:t> ratio</a:t>
            </a:r>
          </a:p>
        </p:txBody>
      </p:sp>
    </p:spTree>
    <p:extLst>
      <p:ext uri="{BB962C8B-B14F-4D97-AF65-F5344CB8AC3E}">
        <p14:creationId xmlns:p14="http://schemas.microsoft.com/office/powerpoint/2010/main" val="111690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8A1E8-847A-EA96-DF23-9B937B57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En </a:t>
            </a:r>
            <a:r>
              <a:rPr lang="es-ES" dirty="0" err="1">
                <a:effectLst/>
              </a:rPr>
              <a:t>laf</a:t>
            </a:r>
            <a:r>
              <a:rPr lang="es-ES" dirty="0">
                <a:effectLst/>
              </a:rPr>
              <a:t> formación que doy suelo cubrir:</a:t>
            </a:r>
            <a:br>
              <a:rPr lang="es-ES" dirty="0">
                <a:effectLst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C6F49C-8135-FB7B-8EEF-E29C22C17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err="1">
                <a:effectLst/>
              </a:rPr>
              <a:t>Storytelling</a:t>
            </a:r>
            <a:r>
              <a:rPr lang="es-ES" dirty="0">
                <a:effectLst/>
              </a:rPr>
              <a:t> </a:t>
            </a:r>
            <a:r>
              <a:rPr lang="es-ES" dirty="0" err="1">
                <a:effectLst/>
              </a:rPr>
              <a:t>Numeros</a:t>
            </a:r>
            <a:r>
              <a:rPr lang="es-ES" dirty="0">
                <a:effectLst/>
              </a:rPr>
              <a:t> y gráficos Diagramas y palabras</a:t>
            </a:r>
          </a:p>
          <a:p>
            <a:r>
              <a:rPr lang="es-ES" dirty="0">
                <a:effectLst/>
              </a:rPr>
              <a:t>Por qué el </a:t>
            </a:r>
            <a:r>
              <a:rPr lang="es-ES" dirty="0" err="1">
                <a:effectLst/>
              </a:rPr>
              <a:t>storytelling</a:t>
            </a:r>
            <a:r>
              <a:rPr lang="es-ES" dirty="0">
                <a:effectLst/>
              </a:rPr>
              <a:t> (comunicación, brevedad, perfiles, persuadir vs informar, </a:t>
            </a:r>
            <a:r>
              <a:rPr lang="es-ES" dirty="0" err="1">
                <a:effectLst/>
              </a:rPr>
              <a:t>minto</a:t>
            </a:r>
            <a:r>
              <a:rPr lang="es-ES" dirty="0">
                <a:effectLst/>
              </a:rPr>
              <a:t>, mece, estructura horizontal y vertical, </a:t>
            </a:r>
            <a:r>
              <a:rPr lang="es-ES" dirty="0" err="1">
                <a:effectLst/>
              </a:rPr>
              <a:t>logica</a:t>
            </a:r>
            <a:r>
              <a:rPr lang="es-ES" dirty="0">
                <a:effectLst/>
              </a:rPr>
              <a:t> argumental, ritmo)</a:t>
            </a:r>
          </a:p>
          <a:p>
            <a:r>
              <a:rPr lang="es-ES" dirty="0">
                <a:effectLst/>
              </a:rPr>
              <a:t>En números y gráficos (narrativa según </a:t>
            </a:r>
            <a:r>
              <a:rPr lang="es-ES" dirty="0" err="1">
                <a:effectLst/>
              </a:rPr>
              <a:t>damodarán</a:t>
            </a:r>
            <a:r>
              <a:rPr lang="es-ES" dirty="0">
                <a:effectLst/>
              </a:rPr>
              <a:t>, riesgos de los datos, mentir con estadísticas, hacer charts: determinar mensaje, identificar comparación, seleccionar gráfica. Partes de una gráfica y </a:t>
            </a:r>
            <a:r>
              <a:rPr lang="es-ES" dirty="0" err="1">
                <a:effectLst/>
              </a:rPr>
              <a:t>callouts</a:t>
            </a:r>
            <a:r>
              <a:rPr lang="es-ES" dirty="0">
                <a:effectLst/>
              </a:rPr>
              <a:t>, </a:t>
            </a:r>
            <a:r>
              <a:rPr lang="es-ES" dirty="0" err="1">
                <a:effectLst/>
              </a:rPr>
              <a:t>enfasis</a:t>
            </a:r>
            <a:r>
              <a:rPr lang="es-ES" dirty="0">
                <a:effectLst/>
              </a:rPr>
              <a:t>, etc...)</a:t>
            </a:r>
          </a:p>
          <a:p>
            <a:r>
              <a:rPr lang="es-ES" dirty="0">
                <a:effectLst/>
              </a:rPr>
              <a:t>Palabras y diagramas (tipos de </a:t>
            </a:r>
            <a:r>
              <a:rPr lang="es-ES" dirty="0" err="1">
                <a:effectLst/>
              </a:rPr>
              <a:t>diagarama</a:t>
            </a:r>
            <a:r>
              <a:rPr lang="es-ES" dirty="0">
                <a:effectLst/>
              </a:rPr>
              <a:t> y objetivos, tipos de palabras y para qué se </a:t>
            </a:r>
            <a:r>
              <a:rPr lang="es-ES" dirty="0" err="1">
                <a:effectLst/>
              </a:rPr>
              <a:t>usaan</a:t>
            </a:r>
            <a:r>
              <a:rPr lang="es-ES" dirty="0">
                <a:effectLst/>
              </a:rPr>
              <a:t> y mejores prácticas)</a:t>
            </a:r>
          </a:p>
        </p:txBody>
      </p:sp>
    </p:spTree>
    <p:extLst>
      <p:ext uri="{BB962C8B-B14F-4D97-AF65-F5344CB8AC3E}">
        <p14:creationId xmlns:p14="http://schemas.microsoft.com/office/powerpoint/2010/main" val="124853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07BC05C-A7BE-FEB6-577C-3CC0725B0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23" y="595116"/>
            <a:ext cx="6035805" cy="566776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DD5DF5-3FA5-9103-A2EF-7599836B9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728" y="595116"/>
            <a:ext cx="5215932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8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4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3F315692-CBB3-FC36-2E51-F578A7D6D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240" y="575740"/>
            <a:ext cx="10472179" cy="5706520"/>
          </a:xfrm>
        </p:spPr>
      </p:pic>
    </p:spTree>
    <p:extLst>
      <p:ext uri="{BB962C8B-B14F-4D97-AF65-F5344CB8AC3E}">
        <p14:creationId xmlns:p14="http://schemas.microsoft.com/office/powerpoint/2010/main" val="27699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DFAD-3B64-334E-1402-991149AC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1E2108B-71EB-E778-C5F4-ACC5A0B63BE3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6741459" y="1748302"/>
            <a:ext cx="0" cy="68113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D15AD768-9916-5C38-DA0F-0A13832A4DEC}"/>
              </a:ext>
            </a:extLst>
          </p:cNvPr>
          <p:cNvGrpSpPr/>
          <p:nvPr/>
        </p:nvGrpSpPr>
        <p:grpSpPr>
          <a:xfrm>
            <a:off x="2626659" y="2429437"/>
            <a:ext cx="8274423" cy="3541058"/>
            <a:chOff x="2626659" y="2205318"/>
            <a:chExt cx="8274423" cy="3895165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17763E55-5A04-89B5-594E-6234FA939C4F}"/>
                </a:ext>
              </a:extLst>
            </p:cNvPr>
            <p:cNvSpPr/>
            <p:nvPr/>
          </p:nvSpPr>
          <p:spPr>
            <a:xfrm>
              <a:off x="2626659" y="2205318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2. Once </a:t>
              </a:r>
              <a:r>
                <a:rPr lang="es-ES" sz="1400" dirty="0" err="1"/>
                <a:t>clear</a:t>
              </a:r>
              <a:r>
                <a:rPr lang="es-ES" sz="1400" dirty="0"/>
                <a:t> </a:t>
              </a:r>
              <a:r>
                <a:rPr lang="es-ES" sz="1400" dirty="0" err="1"/>
                <a:t>the</a:t>
              </a:r>
              <a:r>
                <a:rPr lang="es-ES" sz="1400" dirty="0"/>
                <a:t> </a:t>
              </a:r>
              <a:r>
                <a:rPr lang="es-ES" sz="1400" dirty="0" err="1"/>
                <a:t>big</a:t>
              </a:r>
              <a:r>
                <a:rPr lang="es-ES" sz="1400" dirty="0"/>
                <a:t> idea</a:t>
              </a:r>
              <a:br>
                <a:rPr lang="es-ES" sz="1400" dirty="0"/>
              </a:br>
              <a:br>
                <a:rPr lang="es-ES" sz="1400" dirty="0"/>
              </a:br>
              <a:r>
                <a:rPr lang="es-ES" sz="1400" dirty="0" err="1"/>
                <a:t>Minto</a:t>
              </a:r>
              <a:r>
                <a:rPr lang="es-ES" sz="1400" dirty="0"/>
                <a:t> </a:t>
              </a:r>
              <a:r>
                <a:rPr lang="es-ES" sz="1400" dirty="0" err="1"/>
                <a:t>Pyramid</a:t>
              </a:r>
              <a:r>
                <a:rPr lang="es-ES" sz="1400" dirty="0"/>
                <a:t>, MECE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09E5A04C-EF9F-3525-4782-61ED6B2B8112}"/>
                </a:ext>
              </a:extLst>
            </p:cNvPr>
            <p:cNvSpPr/>
            <p:nvPr/>
          </p:nvSpPr>
          <p:spPr>
            <a:xfrm>
              <a:off x="2626659" y="3567953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4. </a:t>
              </a:r>
              <a:r>
                <a:rPr lang="es-ES" sz="1400" dirty="0" err="1"/>
                <a:t>Logical</a:t>
              </a:r>
              <a:r>
                <a:rPr lang="es-ES" sz="1400" dirty="0"/>
                <a:t> </a:t>
              </a:r>
              <a:r>
                <a:rPr lang="es-ES" sz="1400" dirty="0" err="1"/>
                <a:t>structuring</a:t>
              </a:r>
              <a:r>
                <a:rPr lang="es-ES" sz="1400" dirty="0"/>
                <a:t> </a:t>
              </a:r>
              <a:r>
                <a:rPr lang="es-ES" sz="1400" dirty="0" err="1"/>
                <a:t>here</a:t>
              </a:r>
              <a:r>
                <a:rPr lang="es-ES" sz="1400" dirty="0"/>
                <a:t> and </a:t>
              </a:r>
              <a:r>
                <a:rPr lang="es-ES" sz="1400" dirty="0" err="1"/>
                <a:t>logics</a:t>
              </a:r>
              <a:endParaRPr lang="es-ES" sz="1400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0137E48C-1291-DA6E-814C-4A8DBAE82D23}"/>
                </a:ext>
              </a:extLst>
            </p:cNvPr>
            <p:cNvSpPr/>
            <p:nvPr/>
          </p:nvSpPr>
          <p:spPr>
            <a:xfrm>
              <a:off x="5369859" y="2205318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1. </a:t>
              </a:r>
              <a:r>
                <a:rPr lang="es-ES" sz="1400" dirty="0" err="1"/>
                <a:t>Then</a:t>
              </a:r>
              <a:r>
                <a:rPr lang="es-ES" sz="1400" dirty="0"/>
                <a:t> </a:t>
              </a:r>
              <a:r>
                <a:rPr lang="es-ES" sz="1400" dirty="0" err="1"/>
                <a:t>The</a:t>
              </a:r>
              <a:r>
                <a:rPr lang="es-ES" sz="1400" dirty="0"/>
                <a:t> Big idea</a:t>
              </a:r>
            </a:p>
            <a:p>
              <a:pPr algn="ctr"/>
              <a:endParaRPr lang="es-ES" sz="1400" dirty="0"/>
            </a:p>
            <a:p>
              <a:pPr algn="ctr"/>
              <a:r>
                <a:rPr lang="es-ES" sz="1400" dirty="0" err="1"/>
                <a:t>What</a:t>
              </a:r>
              <a:r>
                <a:rPr lang="es-ES" sz="1400" dirty="0"/>
                <a:t> </a:t>
              </a:r>
              <a:r>
                <a:rPr lang="es-ES" sz="1400" dirty="0" err="1"/>
                <a:t>is</a:t>
              </a:r>
              <a:r>
                <a:rPr lang="es-ES" sz="1400" dirty="0"/>
                <a:t> / </a:t>
              </a:r>
              <a:r>
                <a:rPr lang="es-ES" sz="1400" dirty="0" err="1"/>
                <a:t>could</a:t>
              </a:r>
              <a:r>
                <a:rPr lang="es-ES" sz="1400" dirty="0"/>
                <a:t> be, </a:t>
              </a:r>
              <a:r>
                <a:rPr lang="es-ES" sz="1400" dirty="0" err="1"/>
                <a:t>emotion</a:t>
              </a:r>
              <a:r>
                <a:rPr lang="es-ES" sz="1400" dirty="0"/>
                <a:t> </a:t>
              </a:r>
              <a:r>
                <a:rPr lang="es-ES" sz="1400" dirty="0" err="1"/>
                <a:t>map</a:t>
              </a:r>
              <a:endParaRPr lang="es-ES" sz="1400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4D4D2210-6D44-EF55-BCE7-ACB4F5E4F8AA}"/>
                </a:ext>
              </a:extLst>
            </p:cNvPr>
            <p:cNvSpPr/>
            <p:nvPr/>
          </p:nvSpPr>
          <p:spPr>
            <a:xfrm>
              <a:off x="8157882" y="2205318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3. </a:t>
              </a:r>
              <a:r>
                <a:rPr lang="es-ES" sz="1400" dirty="0" err="1"/>
                <a:t>What</a:t>
              </a:r>
              <a:r>
                <a:rPr lang="es-ES" sz="1400" dirty="0"/>
                <a:t> </a:t>
              </a:r>
              <a:r>
                <a:rPr lang="es-ES" sz="1400" dirty="0" err="1"/>
                <a:t>it</a:t>
              </a:r>
              <a:r>
                <a:rPr lang="es-ES" sz="1400" dirty="0"/>
                <a:t> </a:t>
              </a:r>
              <a:r>
                <a:rPr lang="es-ES" sz="1400" dirty="0" err="1"/>
                <a:t>means</a:t>
              </a:r>
              <a:r>
                <a:rPr lang="es-ES" sz="1400" dirty="0"/>
                <a:t> </a:t>
              </a:r>
              <a:r>
                <a:rPr lang="es-ES" sz="1400" dirty="0" err="1"/>
                <a:t>visually</a:t>
              </a:r>
              <a:endParaRPr lang="es-ES" sz="1400" dirty="0"/>
            </a:p>
            <a:p>
              <a:pPr algn="ctr"/>
              <a:endParaRPr lang="es-ES" sz="1400" dirty="0"/>
            </a:p>
            <a:p>
              <a:pPr algn="ctr"/>
              <a:r>
                <a:rPr lang="es-ES" sz="1100" dirty="0" err="1"/>
                <a:t>Evidences</a:t>
              </a:r>
              <a:r>
                <a:rPr lang="es-ES" sz="1100" dirty="0"/>
                <a:t> and </a:t>
              </a:r>
              <a:r>
                <a:rPr lang="es-ES" sz="1100" dirty="0" err="1"/>
                <a:t>Archetypes</a:t>
              </a:r>
              <a:r>
                <a:rPr lang="es-ES" sz="1100" dirty="0"/>
                <a:t> / Concept </a:t>
              </a:r>
              <a:r>
                <a:rPr lang="es-ES" sz="1100" dirty="0" err="1"/>
                <a:t>diagramms</a:t>
              </a:r>
              <a:endParaRPr lang="es-ES" sz="1400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2D33225-2336-CAE6-F389-B5A045A7A693}"/>
                </a:ext>
              </a:extLst>
            </p:cNvPr>
            <p:cNvSpPr/>
            <p:nvPr/>
          </p:nvSpPr>
          <p:spPr>
            <a:xfrm>
              <a:off x="5369859" y="3576918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5. </a:t>
              </a:r>
              <a:r>
                <a:rPr lang="es-ES" sz="1400" dirty="0" err="1"/>
                <a:t>How</a:t>
              </a:r>
              <a:r>
                <a:rPr lang="es-ES" sz="1400" dirty="0"/>
                <a:t> </a:t>
              </a:r>
              <a:r>
                <a:rPr lang="es-ES" sz="1400" dirty="0" err="1"/>
                <a:t>to</a:t>
              </a:r>
              <a:r>
                <a:rPr lang="es-ES" sz="1400" dirty="0"/>
                <a:t> </a:t>
              </a:r>
              <a:r>
                <a:rPr lang="es-ES" sz="1400" dirty="0" err="1"/>
                <a:t>present</a:t>
              </a:r>
              <a:r>
                <a:rPr lang="es-ES" sz="1400" dirty="0"/>
                <a:t> </a:t>
              </a:r>
              <a:r>
                <a:rPr lang="es-ES" sz="1400" dirty="0" err="1"/>
                <a:t>it</a:t>
              </a:r>
              <a:endParaRPr lang="es-ES" sz="1400" dirty="0"/>
            </a:p>
            <a:p>
              <a:pPr algn="ctr"/>
              <a:endParaRPr lang="es-ES" sz="1400" dirty="0"/>
            </a:p>
            <a:p>
              <a:pPr algn="ctr"/>
              <a:r>
                <a:rPr lang="es-ES" sz="1400" dirty="0"/>
                <a:t>SPARK, pace and </a:t>
              </a:r>
              <a:r>
                <a:rPr lang="es-ES" sz="1400" dirty="0" err="1"/>
                <a:t>turning</a:t>
              </a:r>
              <a:r>
                <a:rPr lang="es-ES" sz="1400" dirty="0"/>
                <a:t> </a:t>
              </a:r>
              <a:r>
                <a:rPr lang="es-ES" sz="1400" dirty="0" err="1"/>
                <a:t>points</a:t>
              </a:r>
              <a:r>
                <a:rPr lang="es-ES" sz="1400" dirty="0"/>
                <a:t> -&gt; </a:t>
              </a:r>
              <a:r>
                <a:rPr lang="es-ES" sz="1400" dirty="0" err="1"/>
                <a:t>rythm</a:t>
              </a:r>
              <a:endParaRPr lang="es-ES" sz="1400" dirty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7A1E6481-852C-FAE0-2A1B-5EC2861AD897}"/>
                </a:ext>
              </a:extLst>
            </p:cNvPr>
            <p:cNvSpPr/>
            <p:nvPr/>
          </p:nvSpPr>
          <p:spPr>
            <a:xfrm>
              <a:off x="8157882" y="3576918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6. </a:t>
              </a:r>
              <a:r>
                <a:rPr lang="es-ES" sz="1400" dirty="0" err="1"/>
                <a:t>Acid</a:t>
              </a:r>
              <a:r>
                <a:rPr lang="es-ES" sz="1400" dirty="0"/>
                <a:t> test</a:t>
              </a:r>
            </a:p>
            <a:p>
              <a:pPr algn="ctr"/>
              <a:endParaRPr lang="es-ES" sz="1400" dirty="0"/>
            </a:p>
            <a:p>
              <a:pPr algn="ctr"/>
              <a:r>
                <a:rPr lang="es-ES" sz="1400" dirty="0" err="1"/>
                <a:t>Plausibility</a:t>
              </a:r>
              <a:r>
                <a:rPr lang="es-ES" sz="1400" dirty="0"/>
                <a:t> test, Narrative </a:t>
              </a:r>
              <a:r>
                <a:rPr lang="es-ES" sz="1400" dirty="0" err="1"/>
                <a:t>against</a:t>
              </a:r>
              <a:r>
                <a:rPr lang="es-ES" sz="1400" dirty="0"/>
                <a:t> </a:t>
              </a:r>
              <a:r>
                <a:rPr lang="es-ES" sz="1400" dirty="0" err="1"/>
                <a:t>the</a:t>
              </a:r>
              <a:r>
                <a:rPr lang="es-ES" sz="1400" dirty="0"/>
                <a:t> </a:t>
              </a:r>
              <a:r>
                <a:rPr lang="es-ES" sz="1400" dirty="0" err="1"/>
                <a:t>numbers</a:t>
              </a:r>
              <a:endParaRPr lang="es-ES" sz="1400" dirty="0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9DED79E7-E684-9B64-4A6A-21BDD2635B11}"/>
                </a:ext>
              </a:extLst>
            </p:cNvPr>
            <p:cNvSpPr/>
            <p:nvPr/>
          </p:nvSpPr>
          <p:spPr>
            <a:xfrm>
              <a:off x="2626659" y="4979895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7. </a:t>
              </a:r>
              <a:r>
                <a:rPr lang="es-ES" sz="1400" dirty="0" err="1"/>
                <a:t>Messaging</a:t>
              </a:r>
              <a:endParaRPr lang="es-ES" sz="1400" dirty="0"/>
            </a:p>
            <a:p>
              <a:pPr algn="ctr"/>
              <a:endParaRPr lang="es-ES" sz="1400" dirty="0"/>
            </a:p>
            <a:p>
              <a:pPr algn="ctr"/>
              <a:r>
                <a:rPr lang="es-ES" sz="1400" dirty="0" err="1"/>
                <a:t>Why</a:t>
              </a:r>
              <a:r>
                <a:rPr lang="es-ES" sz="1400" dirty="0"/>
                <a:t> and So </a:t>
              </a:r>
              <a:r>
                <a:rPr lang="es-ES" sz="1400" dirty="0" err="1"/>
                <a:t>what</a:t>
              </a:r>
              <a:r>
                <a:rPr lang="es-ES" sz="1400" dirty="0"/>
                <a:t>, </a:t>
              </a:r>
              <a:r>
                <a:rPr lang="es-ES" sz="1400" dirty="0" err="1"/>
                <a:t>Headlines</a:t>
              </a:r>
              <a:r>
                <a:rPr lang="es-ES" sz="1400" dirty="0"/>
                <a:t> 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CA0A32E3-B1FA-A081-5BB0-23E3054F81AC}"/>
                </a:ext>
              </a:extLst>
            </p:cNvPr>
            <p:cNvSpPr/>
            <p:nvPr/>
          </p:nvSpPr>
          <p:spPr>
            <a:xfrm>
              <a:off x="8157881" y="4979895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8. Data-</a:t>
              </a:r>
              <a:r>
                <a:rPr lang="es-ES" sz="1400" dirty="0" err="1"/>
                <a:t>Ink</a:t>
              </a:r>
              <a:r>
                <a:rPr lang="es-ES" sz="1400" dirty="0"/>
                <a:t> ratio</a:t>
              </a:r>
            </a:p>
            <a:p>
              <a:pPr algn="ctr"/>
              <a:endParaRPr lang="es-ES" sz="1400" dirty="0"/>
            </a:p>
            <a:p>
              <a:pPr algn="ctr"/>
              <a:r>
                <a:rPr lang="es-ES" sz="1400" dirty="0"/>
                <a:t>3 </a:t>
              </a:r>
              <a:r>
                <a:rPr lang="es-ES" sz="1400" dirty="0" err="1"/>
                <a:t>second</a:t>
              </a:r>
              <a:r>
                <a:rPr lang="es-ES" sz="1400" dirty="0"/>
                <a:t> rule and chat </a:t>
              </a:r>
              <a:r>
                <a:rPr lang="es-ES" sz="1400" dirty="0" err="1"/>
                <a:t>selection</a:t>
              </a:r>
              <a:endParaRPr lang="es-ES" sz="1400" dirty="0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522BA064-B8F6-EF44-04C2-81FD1ED41F23}"/>
                </a:ext>
              </a:extLst>
            </p:cNvPr>
            <p:cNvSpPr/>
            <p:nvPr/>
          </p:nvSpPr>
          <p:spPr>
            <a:xfrm>
              <a:off x="5392270" y="4979895"/>
              <a:ext cx="2743200" cy="112058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/>
                <a:t>9. </a:t>
              </a:r>
              <a:r>
                <a:rPr lang="es-ES" sz="1400" dirty="0" err="1"/>
                <a:t>Polish</a:t>
              </a:r>
              <a:r>
                <a:rPr lang="es-ES" sz="1400" dirty="0"/>
                <a:t> + </a:t>
              </a:r>
              <a:r>
                <a:rPr lang="es-ES" sz="1400" dirty="0" err="1"/>
                <a:t>Clarify</a:t>
              </a:r>
              <a:endParaRPr lang="es-ES" sz="1400" dirty="0"/>
            </a:p>
            <a:p>
              <a:pPr algn="ctr"/>
              <a:endParaRPr lang="es-ES" sz="1400" dirty="0"/>
            </a:p>
            <a:p>
              <a:pPr algn="ctr"/>
              <a:r>
                <a:rPr lang="es-ES" sz="1050" dirty="0"/>
                <a:t>Visual </a:t>
              </a:r>
              <a:r>
                <a:rPr lang="es-ES" sz="1050" dirty="0" err="1"/>
                <a:t>metaphors</a:t>
              </a:r>
              <a:r>
                <a:rPr lang="es-ES" sz="1050" dirty="0"/>
                <a:t>, </a:t>
              </a:r>
              <a:r>
                <a:rPr lang="es-ES" sz="1050" dirty="0" err="1"/>
                <a:t>relatable</a:t>
              </a:r>
              <a:r>
                <a:rPr lang="es-ES" sz="1050" dirty="0"/>
                <a:t> </a:t>
              </a:r>
              <a:r>
                <a:rPr lang="es-ES" sz="1050" dirty="0" err="1"/>
                <a:t>scale</a:t>
              </a:r>
              <a:r>
                <a:rPr lang="es-ES" sz="1050" dirty="0"/>
                <a:t> and </a:t>
              </a:r>
              <a:r>
                <a:rPr lang="es-ES" sz="1050" dirty="0" err="1"/>
                <a:t>callouts</a:t>
              </a:r>
              <a:r>
                <a:rPr lang="es-ES" sz="1050" dirty="0"/>
                <a:t> and </a:t>
              </a:r>
              <a:r>
                <a:rPr lang="es-ES" sz="1050" dirty="0" err="1"/>
                <a:t>anotations</a:t>
              </a:r>
              <a:endParaRPr lang="es-ES" sz="1050" dirty="0"/>
            </a:p>
          </p:txBody>
        </p:sp>
        <p:cxnSp>
          <p:nvCxnSpPr>
            <p:cNvPr id="24" name="Conector angular 23">
              <a:extLst>
                <a:ext uri="{FF2B5EF4-FFF2-40B4-BE49-F238E27FC236}">
                  <a16:creationId xmlns:a16="http://schemas.microsoft.com/office/drawing/2014/main" id="{B75C7BF2-6D46-2B48-512A-830C91729B1B}"/>
                </a:ext>
              </a:extLst>
            </p:cNvPr>
            <p:cNvCxnSpPr>
              <a:cxnSpLocks/>
              <a:stCxn id="19" idx="3"/>
              <a:endCxn id="5" idx="1"/>
            </p:cNvCxnSpPr>
            <p:nvPr/>
          </p:nvCxnSpPr>
          <p:spPr>
            <a:xfrm flipH="1" flipV="1">
              <a:off x="2626659" y="4128247"/>
              <a:ext cx="8274423" cy="8965"/>
            </a:xfrm>
            <a:prstGeom prst="bentConnector5">
              <a:avLst>
                <a:gd name="adj1" fmla="val -2763"/>
                <a:gd name="adj2" fmla="val -8209730"/>
                <a:gd name="adj3" fmla="val 102763"/>
              </a:avLst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95D109B-14C0-61FC-B397-95ED5464F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34" y="85405"/>
            <a:ext cx="1860650" cy="15430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54DA8B-D551-65B0-CFBB-87A58391B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545" y="1879078"/>
            <a:ext cx="1860650" cy="15324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9BD90B4-A7DA-7FF9-C6BF-86E7695F8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507" y="1911502"/>
            <a:ext cx="2251386" cy="14675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2ADBD72-3AED-4F0C-FBA4-04AD9D45B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109" y="1843175"/>
            <a:ext cx="2046715" cy="150195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1CAB39F-28FB-E257-DF4C-1B3FB0837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0507" y="5138241"/>
            <a:ext cx="2251386" cy="189153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7E4514C-767C-E1FF-0E31-5F87E8B131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156" y="5424463"/>
            <a:ext cx="186065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01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4B454-EDC0-44A4-DAAC-5EA25EB8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3B20374-E9B2-1C45-6974-41D10E5EE29F}"/>
              </a:ext>
            </a:extLst>
          </p:cNvPr>
          <p:cNvSpPr/>
          <p:nvPr/>
        </p:nvSpPr>
        <p:spPr>
          <a:xfrm>
            <a:off x="1542361" y="462707"/>
            <a:ext cx="9188068" cy="1333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Casos de uso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586401-E340-AE53-9998-041F6C1FACF3}"/>
              </a:ext>
            </a:extLst>
          </p:cNvPr>
          <p:cNvSpPr/>
          <p:nvPr/>
        </p:nvSpPr>
        <p:spPr>
          <a:xfrm>
            <a:off x="1542361" y="2036283"/>
            <a:ext cx="9188068" cy="1333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Tools básicas (</a:t>
            </a:r>
            <a:r>
              <a:rPr lang="es-ES" dirty="0" err="1"/>
              <a:t>ChatGPT</a:t>
            </a:r>
            <a:r>
              <a:rPr lang="es-ES" dirty="0"/>
              <a:t>, </a:t>
            </a:r>
            <a:r>
              <a:rPr lang="es-ES" dirty="0" err="1"/>
              <a:t>Freepik</a:t>
            </a:r>
            <a:r>
              <a:rPr lang="es-ES" dirty="0"/>
              <a:t>, Flow, Claude </a:t>
            </a:r>
            <a:r>
              <a:rPr lang="es-ES" dirty="0" err="1"/>
              <a:t>Code</a:t>
            </a:r>
            <a:r>
              <a:rPr lang="es-ES" dirty="0"/>
              <a:t>….)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1F00EA-4EDA-67A6-4945-80298FF6E063}"/>
              </a:ext>
            </a:extLst>
          </p:cNvPr>
          <p:cNvSpPr/>
          <p:nvPr/>
        </p:nvSpPr>
        <p:spPr>
          <a:xfrm>
            <a:off x="1542361" y="3609859"/>
            <a:ext cx="9188068" cy="1333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Basic AI (</a:t>
            </a:r>
            <a:r>
              <a:rPr lang="es-ES" dirty="0" err="1"/>
              <a:t>llm</a:t>
            </a:r>
            <a:r>
              <a:rPr lang="es-ES" dirty="0"/>
              <a:t>, modelos, </a:t>
            </a:r>
            <a:r>
              <a:rPr lang="es-ES" dirty="0" err="1"/>
              <a:t>tool</a:t>
            </a:r>
            <a:r>
              <a:rPr lang="es-ES" dirty="0"/>
              <a:t>….)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F70FA93-2D0D-1494-0F03-91016B068BE2}"/>
              </a:ext>
            </a:extLst>
          </p:cNvPr>
          <p:cNvSpPr/>
          <p:nvPr/>
        </p:nvSpPr>
        <p:spPr>
          <a:xfrm>
            <a:off x="1542361" y="5183435"/>
            <a:ext cx="9188068" cy="1333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Agentes</a:t>
            </a:r>
          </a:p>
        </p:txBody>
      </p:sp>
    </p:spTree>
    <p:extLst>
      <p:ext uri="{BB962C8B-B14F-4D97-AF65-F5344CB8AC3E}">
        <p14:creationId xmlns:p14="http://schemas.microsoft.com/office/powerpoint/2010/main" val="29479582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298</Words>
  <Application>Microsoft Macintosh PowerPoint</Application>
  <PresentationFormat>Panorámica</PresentationFormat>
  <Paragraphs>49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En laf formación que doy suelo cubrir: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365 Pro Plus</dc:creator>
  <cp:lastModifiedBy>365 Pro Plus</cp:lastModifiedBy>
  <cp:revision>5</cp:revision>
  <dcterms:created xsi:type="dcterms:W3CDTF">2026-01-11T01:08:33Z</dcterms:created>
  <dcterms:modified xsi:type="dcterms:W3CDTF">2026-01-14T17:13:38Z</dcterms:modified>
</cp:coreProperties>
</file>